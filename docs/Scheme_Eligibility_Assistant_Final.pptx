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354AC1E-5C4B-EC5F-A93A-3AE4974BCE01}">
          <p14:sldIdLst>
            <p14:sldId id="256"/>
            <p14:sldId id="257"/>
            <p14:sldId id="258"/>
          </p14:sldIdLst>
        </p14:section>
        <p14:section name="Database choice" id="{D46F4E93-11DC-4A1E-D55C-48C106CD8E16}">
          <p14:sldIdLst>
            <p14:sldId id="259"/>
          </p14:sldIdLst>
        </p14:section>
        <p14:section name="Design" id="{964895CB-A8A4-5D9C-4FE9-CBD76AEE5994}">
          <p14:sldIdLst>
            <p14:sldId id="260"/>
            <p14:sldId id="261"/>
            <p14:sldId id="262"/>
          </p14:sldIdLst>
        </p14:section>
        <p14:section name="Implementation" id="{A73F6C4B-207C-FA7F-38FD-248AFABD4BC2}">
          <p14:sldIdLst>
            <p14:sldId id="263"/>
            <p14:sldId id="264"/>
          </p14:sldIdLst>
        </p14:section>
        <p14:section name="Rules engine" id="{6011F768-3132-6026-EE8C-28C96822C135}">
          <p14:sldIdLst>
            <p14:sldId id="266"/>
          </p14:sldIdLst>
        </p14:section>
        <p14:section name="Grounded Q&amp;A" id="{A320CAE5-9981-ECCF-8882-7D85BD1FC98F}">
          <p14:sldIdLst>
            <p14:sldId id="267"/>
          </p14:sldIdLst>
        </p14:section>
        <p14:section name="Quality" id="{F22F9212-2A00-F129-1F46-2000841D3C5F}">
          <p14:sldIdLst>
            <p14:sldId id="268"/>
          </p14:sldIdLst>
        </p14:section>
        <p14:section name="Results" id="{CDC067E7-2C01-BB96-F6A7-2496A6E79CCB}">
          <p14:sldIdLst>
            <p14:sldId id="269"/>
            <p14:sldId id="270"/>
            <p14:sldId id="271"/>
          </p14:sldIdLst>
        </p14:section>
        <p14:section name="Conclusion" id="{8FB53D69-880C-951C-48B7-59851AEFB3E9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Recall@5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vector · named</c:v>
                </c:pt>
                <c:pt idx="1">
                  <c:v>vector · descriptive</c:v>
                </c:pt>
                <c:pt idx="2">
                  <c:v>keyword · named</c:v>
                </c:pt>
                <c:pt idx="3">
                  <c:v>keyword · descriptive</c:v>
                </c:pt>
                <c:pt idx="4">
                  <c:v>hybrid · named</c:v>
                </c:pt>
                <c:pt idx="5">
                  <c:v>hybrid · descriptive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0.98</c:v>
                </c:pt>
                <c:pt idx="1">
                  <c:v>0.82</c:v>
                </c:pt>
                <c:pt idx="2">
                  <c:v>1</c:v>
                </c:pt>
                <c:pt idx="3">
                  <c:v>0.15</c:v>
                </c:pt>
                <c:pt idx="4">
                  <c:v>1</c:v>
                </c:pt>
                <c:pt idx="5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F5-4809-8D42-0FC59BC764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Collection scan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Check pre-filter: published, central or Assam</c:v>
                </c:pt>
                <c:pt idx="1">
                  <c:v>User history, newest first</c:v>
                </c:pt>
                <c:pt idx="2">
                  <c:v>All verdicts of one run</c:v>
                </c:pt>
                <c:pt idx="3">
                  <c:v>Audits of one scheme version</c:v>
                </c:pt>
                <c:pt idx="4">
                  <c:v>Chunks of one scheme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570</c:v>
                </c:pt>
                <c:pt idx="1">
                  <c:v>6506</c:v>
                </c:pt>
                <c:pt idx="2">
                  <c:v>6506</c:v>
                </c:pt>
                <c:pt idx="3">
                  <c:v>6506</c:v>
                </c:pt>
                <c:pt idx="4">
                  <c:v>3991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62-47C2-8A89-50BEE8390A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index</c:v>
                </c:pt>
              </c:strCache>
            </c:strRef>
          </c:tx>
          <c:spPr>
            <a:solidFill>
              <a:srgbClr val="0F4C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Check pre-filter: published, central or Assam</c:v>
                </c:pt>
                <c:pt idx="1">
                  <c:v>User history, newest first</c:v>
                </c:pt>
                <c:pt idx="2">
                  <c:v>All verdicts of one run</c:v>
                </c:pt>
                <c:pt idx="3">
                  <c:v>Audits of one scheme version</c:v>
                </c:pt>
                <c:pt idx="4">
                  <c:v>Chunks of one scheme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</c:v>
                </c:pt>
                <c:pt idx="1">
                  <c:v>135</c:v>
                </c:pt>
                <c:pt idx="2">
                  <c:v>15</c:v>
                </c:pt>
                <c:pt idx="3">
                  <c:v>431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62-47C2-8A89-50BEE8390A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191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web app that tells a citizen which schemes they qualify for and why, and answers questions with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design principle: the language model never decides eligibility. Code decides facts; text generation only explains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UI talks only to FastAPI. The RAG service hands eligibility questions to the rules engine. Ingestion publishes rules only after validation and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pre-filter: published, central or Assam: 570 → 16 docs examined
User history, newest first: 5295 → 61 docs examined
All verdicts of one run: 5295 → 15 docs examined
Audits of one scheme version: 5295 → 347 docs examined
Chunks of one scheme: 3991 → 9 docs examined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with explain('executionStats'); collection scan forced with hint({$natural: 1}). Every indexed plan is FETCH &lt;- IXSCAN.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69748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334155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Scheme Eligibility Assistant · NoSQL 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52664"/>
            <a:ext cx="7863840" cy="69260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Scheme Eligibility Assistant</a:t>
            </a:r>
            <a:endParaRPr lang="en-US" sz="4000" dirty="0"/>
          </a:p>
        </p:txBody>
      </p:sp>
      <p:pic>
        <p:nvPicPr>
          <p:cNvPr id="3" name="Manipal University Jaipur logo" descr="D:\scheme-assistant\docs\img\muj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2743200" cy="523037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79" y="2697480"/>
            <a:ext cx="8335307" cy="16540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34155"/>
                </a:solidFill>
              </a:rPr>
              <a:t>Explainable government-scheme eligibility and grounded Q&amp;A, built on MongoDB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400" dirty="0"/>
              <a:t>Team members</a:t>
            </a:r>
            <a:r>
              <a:rPr lang="en-US" sz="1400" dirty="0">
                <a:solidFill>
                  <a:srgbClr val="334155"/>
                </a:solidFill>
              </a:rPr>
              <a:t>: </a:t>
            </a:r>
            <a:r>
              <a:rPr lang="en-US" sz="1400" dirty="0"/>
              <a:t>Nalin Ahuja, Adamya Singh Thakur</a:t>
            </a:r>
            <a:r>
              <a:rPr lang="en-US" sz="1400" dirty="0">
                <a:solidFill>
                  <a:srgbClr val="334155"/>
                </a:solidFill>
              </a:rPr>
              <a:t> 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Reg.</a:t>
            </a:r>
            <a:r>
              <a:rPr lang="en-US" sz="1400" dirty="0"/>
              <a:t> N</a:t>
            </a:r>
            <a:r>
              <a:rPr lang="en-US" sz="1400" dirty="0">
                <a:solidFill>
                  <a:srgbClr val="334155"/>
                </a:solidFill>
              </a:rPr>
              <a:t>o: </a:t>
            </a:r>
            <a:r>
              <a:rPr lang="en-US" sz="1400" dirty="0"/>
              <a:t>2427010036, 2427010181</a:t>
            </a:r>
            <a:r>
              <a:rPr lang="en-US" sz="1400" dirty="0">
                <a:solidFill>
                  <a:srgbClr val="334155"/>
                </a:solidFill>
              </a:rPr>
              <a:t>  </a:t>
            </a:r>
          </a:p>
          <a:p>
            <a:pPr marL="0" indent="0">
              <a:buNone/>
            </a:pPr>
            <a:r>
              <a:rPr lang="en-US" sz="1400" dirty="0"/>
              <a:t>Submitted To</a:t>
            </a:r>
            <a:r>
              <a:rPr lang="en-US" sz="1400" dirty="0">
                <a:solidFill>
                  <a:srgbClr val="334155"/>
                </a:solidFill>
              </a:rPr>
              <a:t>:  Ms. Surabhi Agrawal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Finding the right scheme is hard</a:t>
            </a:r>
            <a:endParaRPr lang="en-US" sz="3000" u="sng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66622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Eligibility rules are buried in long scheme pages: age bands, income caps, category, land, BPL, state.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Central and state schemes all have different shapes, and rules change over time.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Citizens rely on middlemen; CSC operators screen many people by hand.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 chatbot that guesses about someone's benefits can cause real harm.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914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17123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unique schemes parsed from 601 myScheme PDFs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218418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2925919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central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16027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457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91254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state / UT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3260551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covering 34 states and UTs (Hugging Face: shrijayan/gov_myscheme)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u="sng" dirty="0"/>
          </a:p>
        </p:txBody>
      </p:sp>
      <p:sp>
        <p:nvSpPr>
          <p:cNvPr id="3" name="card Eligibility checker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258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89304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Eligibility checker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013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Profile → Eligible / Ineligible / Needs more info for every scheme, a reason per rule, every check saved with a checksum</a:t>
            </a:r>
            <a:endParaRPr lang="en-US" sz="1200" dirty="0"/>
          </a:p>
        </p:txBody>
      </p:sp>
      <p:sp>
        <p:nvSpPr>
          <p:cNvPr id="8" name="card Grounded Q&amp;A"/>
          <p:cNvSpPr/>
          <p:nvPr/>
        </p:nvSpPr>
        <p:spPr>
          <a:xfrm>
            <a:off x="4663440" y="11430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8032" y="13258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803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1289304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Grounded Q&amp;A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013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Answers only from retrieved scheme text, cites sources, refuses when unsure</a:t>
            </a:r>
            <a:endParaRPr lang="en-US" sz="1200" dirty="0"/>
          </a:p>
        </p:txBody>
      </p:sp>
      <p:sp>
        <p:nvSpPr>
          <p:cNvPr id="13" name="card Trustworthy records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10896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072384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Personal tools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844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Ranked recommendations, an application tracker with reminders, and a grievance portal</a:t>
            </a:r>
            <a:endParaRPr lang="en-US" sz="1200" dirty="0"/>
          </a:p>
        </p:txBody>
      </p:sp>
      <p:sp>
        <p:nvSpPr>
          <p:cNvPr id="18" name="card NoSQL depth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310896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28032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3072384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NoSQL depth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844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CRUD, validation, $facet / $bucket aggregation, geospatial $geoNear, arrayFilters, transactions, TTL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MongoDB over a relational database</a:t>
            </a:r>
            <a:endParaRPr lang="en-US" sz="3000" u="sng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7432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Need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Relational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MongoDB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Variable-shaped schemes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Sparse columns / EAV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Flexible documents + JSON Schema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Recursive rule tree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Adjacency list + recursive CTE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Nested sub-document, one read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Audit with exact inputs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Joins to versioned tables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Embedded snapshots, no joins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Text + vector search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Extensions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Text index + vector search beside data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Atomic rule publish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Transactions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Multi-document transactions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7D5B"/>
                </a:solidFill>
              </a:rPr>
              <a:t>Trade-off accepted: no foreign keys, so we enforce unique indexes, validators and insert-only versions instead.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three subsystems, one database</a:t>
            </a:r>
            <a:endParaRPr lang="en-US" sz="3000" u="sng" dirty="0"/>
          </a:p>
        </p:txBody>
      </p:sp>
      <p:pic>
        <p:nvPicPr>
          <p:cNvPr id="26" name="architecture diagram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903" y="1005840"/>
            <a:ext cx="6158193" cy="37216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model: embed, reference, snapshot</a:t>
            </a:r>
            <a:endParaRPr lang="en-US" sz="3000" u="sng" dirty="0"/>
          </a:p>
        </p:txBody>
      </p:sp>
      <p:pic>
        <p:nvPicPr>
          <p:cNvPr id="26" name="data model diagram" descr="data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9" y="1051560"/>
            <a:ext cx="5432881" cy="3017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1427599"/>
            <a:ext cx="2743200" cy="287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Embed what is read together: scheme + its rule tree; tracker checklist + history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Reference what changes on its own: chunks, versions, applications by slug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Snapshot what must never change: each evaluation stores the rules and profile it used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15 collections; unique / compound / text / TTL / 2dsphere indexes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scheme is one document</a:t>
            </a:r>
            <a:endParaRPr lang="en-US" sz="3000" u="sng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480560" cy="356616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1905" tIns="1905" rIns="1905" bIns="1905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"slug": "apy", "name": "Atal Pension Yojana",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"level": "central", "status": "published",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"current_version": 1,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"eligibility": { "op": "AND", "children":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"id": "r1", "attribute": "age",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"operator": "between", "value": [18, 40],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"source_quote": "The minimum age of joining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APY is 18 years and maximum is 40 years." 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"op": "NOT", "children":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"id": "r2",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"attribute": "is_income_tax_payer",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"operator": "==", "value": true } ] } ] } }</a:t>
            </a:r>
            <a:endParaRPr lang="en-US" sz="1050" dirty="0"/>
          </a:p>
        </p:txBody>
      </p:sp>
      <p:pic>
        <p:nvPicPr>
          <p:cNvPr id="4" name="rule tree diagram" descr="D:\scheme-assistant\docs\img\rule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280160"/>
            <a:ext cx="3611880" cy="16642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20640" y="315468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Groups AND / OR / NOT nest to any depth. Every leaf keeps the sentence it came from, and the validator checks it is really in the source text.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across the collections</a:t>
            </a:r>
            <a:endParaRPr lang="en-US" sz="3000" u="sng" dirty="0"/>
          </a:p>
        </p:txBody>
      </p:sp>
      <p:sp>
        <p:nvSpPr>
          <p:cNvPr id="3" name="card Create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258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89304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Create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013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register · insert_many evaluations per check · version in a transaction · grievance with atomic ticket no. · save scheme to tracker</a:t>
            </a:r>
            <a:endParaRPr lang="en-US" sz="1200" dirty="0"/>
          </a:p>
        </p:txBody>
      </p:sp>
      <p:sp>
        <p:nvSpPr>
          <p:cNvPr id="8" name="card Read"/>
          <p:cNvSpPr/>
          <p:nvPr/>
        </p:nvSpPr>
        <p:spPr>
          <a:xfrm>
            <a:off x="4663440" y="11430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8032" y="13258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803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1289304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Read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013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filter / text-search / paginate schemes · detail by slug · user history (index-ordered) · ranked recommendations</a:t>
            </a:r>
            <a:endParaRPr lang="en-US" sz="1200" dirty="0"/>
          </a:p>
        </p:txBody>
      </p:sp>
      <p:sp>
        <p:nvSpPr>
          <p:cNvPr id="13" name="card Update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10896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072384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Update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844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profile ($set, upsert) · tracker status + checklist ($set with arrayFilters) · grievance reply ($push)</a:t>
            </a:r>
            <a:endParaRPr lang="en-US" sz="1200" dirty="0"/>
          </a:p>
        </p:txBody>
      </p:sp>
      <p:sp>
        <p:nvSpPr>
          <p:cNvPr id="18" name="card Delete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310896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28032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3072384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Delete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844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delete my data (profile, history, tracker) · remove checklist item ($pull) · retire a scheme (soft delete)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MongoDB features</a:t>
            </a:r>
            <a:endParaRPr lang="en-US" sz="3000" u="sng" dirty="0"/>
          </a:p>
        </p:txBody>
      </p:sp>
      <p:sp>
        <p:nvSpPr>
          <p:cNvPr id="3" name="card JSON Schema validators"/>
          <p:cNvSpPr/>
          <p:nvPr/>
        </p:nvSpPr>
        <p:spPr>
          <a:xfrm>
            <a:off x="457200" y="11430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93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JSON Schema validators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013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Database rejects bad verdicts, operators, ages</a:t>
            </a:r>
            <a:endParaRPr lang="en-US" sz="1200" dirty="0"/>
          </a:p>
        </p:txBody>
      </p:sp>
      <p:sp>
        <p:nvSpPr>
          <p:cNvPr id="6" name="card Transactions"/>
          <p:cNvSpPr/>
          <p:nvPr/>
        </p:nvSpPr>
        <p:spPr>
          <a:xfrm>
            <a:off x="3246120" y="11430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893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013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Insert version N+1 + repoint scheme atomically</a:t>
            </a:r>
            <a:endParaRPr lang="en-US" sz="1200" dirty="0"/>
          </a:p>
        </p:txBody>
      </p:sp>
      <p:sp>
        <p:nvSpPr>
          <p:cNvPr id="9" name="card Aggregation"/>
          <p:cNvSpPr/>
          <p:nvPr/>
        </p:nvSpPr>
        <p:spPr>
          <a:xfrm>
            <a:off x="6035040" y="11430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893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$facet · $bucket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013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Coverage gaps by state and group; reminders; dashboards</a:t>
            </a:r>
            <a:endParaRPr lang="en-US" sz="1200" dirty="0"/>
          </a:p>
        </p:txBody>
      </p:sp>
      <p:sp>
        <p:nvSpPr>
          <p:cNvPr id="12" name="card Index tuning"/>
          <p:cNvSpPr/>
          <p:nvPr/>
        </p:nvSpPr>
        <p:spPr>
          <a:xfrm>
            <a:off x="457200" y="29260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723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Index tuning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8444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ESR compound indexes, checked with explain()</a:t>
            </a:r>
            <a:endParaRPr lang="en-US" sz="1200" dirty="0"/>
          </a:p>
        </p:txBody>
      </p:sp>
      <p:sp>
        <p:nvSpPr>
          <p:cNvPr id="15" name="card TTL indexes"/>
          <p:cNvSpPr/>
          <p:nvPr/>
        </p:nvSpPr>
        <p:spPr>
          <a:xfrm>
            <a:off x="3246120" y="29260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0723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Geospatial + TTL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58444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2dsphere + $geoNear for nearby states; logs expire on their own</a:t>
            </a:r>
            <a:endParaRPr lang="en-US" sz="1200" dirty="0"/>
          </a:p>
        </p:txBody>
      </p:sp>
      <p:sp>
        <p:nvSpPr>
          <p:cNvPr id="18" name="card Text + vector search"/>
          <p:cNvSpPr/>
          <p:nvPr/>
        </p:nvSpPr>
        <p:spPr>
          <a:xfrm>
            <a:off x="6035040" y="29260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30723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Text + vector search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58444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$text + embeddings merged with RRF; $vectorSearch on Atlas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scheme text to published rules</a:t>
            </a:r>
            <a:endParaRPr lang="en-US" sz="3000" u="sng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Parse PDF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rot="5400000">
            <a:off x="1956816" y="1444752"/>
            <a:ext cx="164592" cy="219456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57984" y="11887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57984" y="1188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Extract rules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5400000">
            <a:off x="3657600" y="1444752"/>
            <a:ext cx="164592" cy="219456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58768" y="11887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58768" y="1188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5400000">
            <a:off x="5358384" y="1444752"/>
            <a:ext cx="164592" cy="219456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59552" y="11887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59552" y="1188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Hand-check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rot="5400000">
            <a:off x="7059168" y="1444752"/>
            <a:ext cx="164592" cy="219456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0336" y="11887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0336" y="1188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Publish (txn)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909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rule leaves proposed with a source quote each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502 / 570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proposals pass automatic validation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hand-checked schemes published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Validator checks: registered attributes only · operator matches type · quote really appears in the source · numbers appear in the quote · no contradictory ranges. Unchecked proposals are used only as clearly labelled "unverified" recommendation hints.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Q&amp;A that refuses to guess</a:t>
            </a:r>
            <a:endParaRPr lang="en-US" sz="3000" u="sng" dirty="0"/>
          </a:p>
        </p:txBody>
      </p:sp>
      <p:sp>
        <p:nvSpPr>
          <p:cNvPr id="3" name="card Route the question"/>
          <p:cNvSpPr/>
          <p:nvPr/>
        </p:nvSpPr>
        <p:spPr>
          <a:xfrm>
            <a:off x="457200" y="11887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7160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33502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Route the question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47088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Eligibility → rules engine; info → retrieval; off-topic → refuse. Spelling and plural matching (yojna → yojana)</a:t>
            </a:r>
            <a:endParaRPr lang="en-US" sz="1200" dirty="0"/>
          </a:p>
        </p:txBody>
      </p:sp>
      <p:sp>
        <p:nvSpPr>
          <p:cNvPr id="8" name="card Hybrid retrieval"/>
          <p:cNvSpPr/>
          <p:nvPr/>
        </p:nvSpPr>
        <p:spPr>
          <a:xfrm>
            <a:off x="3246120" y="11887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137160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04488" y="133502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Hybrid retrieval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47088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Section chunks; vector similarity + MongoDB text search, merged with Reciprocal Rank Fusion</a:t>
            </a:r>
            <a:endParaRPr lang="en-US" sz="1200" dirty="0"/>
          </a:p>
        </p:txBody>
      </p:sp>
      <p:sp>
        <p:nvSpPr>
          <p:cNvPr id="13" name="card Grounded answer"/>
          <p:cNvSpPr/>
          <p:nvPr/>
        </p:nvSpPr>
        <p:spPr>
          <a:xfrm>
            <a:off x="6035040" y="11887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37160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133502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Grounded answer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47088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Only numbered sources, each passage must contain the question's topic words; no valid citation → refusal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E7D5B"/>
                </a:solidFill>
              </a:rPr>
              <a:t>The model only explains; verdicts always come from the engine.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validation and testing</a:t>
            </a:r>
            <a:endParaRPr lang="en-US" sz="3000" u="sng" dirty="0"/>
          </a:p>
        </p:txBody>
      </p:sp>
      <p:sp>
        <p:nvSpPr>
          <p:cNvPr id="3" name="card Security"/>
          <p:cNvSpPr/>
          <p:nvPr/>
        </p:nvSpPr>
        <p:spPr>
          <a:xfrm>
            <a:off x="457200" y="114300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930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Security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01368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• PBKDF2-SHA256 password hashes, JWT bearer tokens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• Separate Citizen / Admin login; the server checks the role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• Admin routes return 403 to citizens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• Grievances and trackers visible only to their owner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• No Aadhaar or ID numbers stored; delete-my-data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• Audit records insert-only with SHA-256 checksum</a:t>
            </a:r>
            <a:endParaRPr lang="en-US" sz="1200" dirty="0"/>
          </a:p>
        </p:txBody>
      </p:sp>
      <p:sp>
        <p:nvSpPr>
          <p:cNvPr id="6" name="card Testing"/>
          <p:cNvSpPr/>
          <p:nvPr/>
        </p:nvSpPr>
        <p:spPr>
          <a:xfrm>
            <a:off x="4663440" y="114300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E4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8930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3A"/>
                </a:solidFill>
              </a:rPr>
              <a:t>Testing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01368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• Truth tables for AND / OR / NOT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• Property tests (Hypothesis): NOT(NOT(x)) = x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• Fixture profiles → expected verdicts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• Validator rejects invented or malformed rules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• API tests: CRUD, login roles, tracker, ranking, coverage, grievances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sz="1200"/>
              <a:t>Last run: 122 passed, 0 failed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u="sng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fixture verdict accuracy (35/35)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 ms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median to check all published schemes + write audit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3991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text chunks indexed for retrieval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hybrid retrieval Recall@5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2743200"/>
          <a:ext cx="82296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working application</a:t>
            </a:r>
            <a:endParaRPr lang="en-US" sz="3000" u="sng" dirty="0"/>
          </a:p>
        </p:txBody>
      </p:sp>
      <p:pic>
        <p:nvPicPr>
          <p:cNvPr id="27" name="eligibility screen" descr="screen_3_recommendations_an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4023359" cy="2544183"/>
          </a:xfrm>
          <a:prstGeom prst="rect">
            <a:avLst/>
          </a:prstGeom>
        </p:spPr>
      </p:pic>
      <p:pic>
        <p:nvPicPr>
          <p:cNvPr id="26" name="chat screen" descr="screen_7_coverage_gap_analytics_adm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97280"/>
            <a:ext cx="4023359" cy="254418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840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Citizen: ranked recommendations with reasons, Save to tracker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840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Officer: coverage-gap map and tables ($facet, $bucket, $geoNear)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Indexes: Documents examined per query</a:t>
            </a:r>
            <a:endParaRPr lang="en-US" sz="3000" u="sng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51560"/>
          <a:ext cx="82296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2620"/>
            <a:ext cx="7863840" cy="66666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000" b="1" u="sng" dirty="0">
                <a:solidFill>
                  <a:srgbClr val="0F4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next steps</a:t>
            </a:r>
            <a:endParaRPr lang="en-US" sz="4000" u="sng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692289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</a:rPr>
              <a:t>MongoDB's document model fits rule-heavy, variable government data: one document per scheme, immutable versions, self-contained audit records, plus ranked recommendations, a tracker, grievances and coverage-gap analytics built on aggregation and geospatial indexes.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</a:rPr>
              <a:t>Next: ingest from the official API Setu feed, add district-level data, move to Atlas Vector Search, and add a Hindi UI.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eme Assistant">
  <a:themeElements>
    <a:clrScheme name="Scheme Assistant">
      <a:dk1>
        <a:srgbClr val="13241C"/>
      </a:dk1>
      <a:lt1>
        <a:srgbClr val="FFFFFF"/>
      </a:lt1>
      <a:dk2>
        <a:srgbClr val="0F4C3A"/>
      </a:dk2>
      <a:lt2>
        <a:srgbClr val="EEF5F1"/>
      </a:lt2>
      <a:accent1>
        <a:srgbClr val="0F4C3A"/>
      </a:accent1>
      <a:accent2>
        <a:srgbClr val="E8871E"/>
      </a:accent2>
      <a:accent3>
        <a:srgbClr val="2E7D5B"/>
      </a:accent3>
      <a:accent4>
        <a:srgbClr val="C2410C"/>
      </a:accent4>
      <a:accent5>
        <a:srgbClr val="64748B"/>
      </a:accent5>
      <a:accent6>
        <a:srgbClr val="94C9A9"/>
      </a:accent6>
      <a:hlink>
        <a:srgbClr val="0F4C3A"/>
      </a:hlink>
      <a:folHlink>
        <a:srgbClr val="2E7D5B"/>
      </a:folHlink>
    </a:clrScheme>
    <a:fontScheme name="Scheme Assista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1359</Words>
  <Application>Microsoft Office PowerPoint</Application>
  <PresentationFormat>On-screen Show (16:9)</PresentationFormat>
  <Paragraphs>188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Scheme Assistant</vt:lpstr>
      <vt:lpstr>Scheme Eligibility Assistant</vt:lpstr>
      <vt:lpstr>Problem: Finding the right scheme is hard</vt:lpstr>
      <vt:lpstr>Objectives</vt:lpstr>
      <vt:lpstr>Why MongoDB over a relational database</vt:lpstr>
      <vt:lpstr>Architecture: three subsystems, one database</vt:lpstr>
      <vt:lpstr>Data model: embed, reference, snapshot</vt:lpstr>
      <vt:lpstr>A scheme is one document</vt:lpstr>
      <vt:lpstr>CRUD across the collections</vt:lpstr>
      <vt:lpstr>Advanced MongoDB features</vt:lpstr>
      <vt:lpstr>From scheme text to published rules</vt:lpstr>
      <vt:lpstr>Grounded Q&amp;A that refuses to guess</vt:lpstr>
      <vt:lpstr>Security, validation and testing</vt:lpstr>
      <vt:lpstr>Results</vt:lpstr>
      <vt:lpstr>The working application</vt:lpstr>
      <vt:lpstr>Indexes: Documents examined per query</vt:lpstr>
      <vt:lpstr>Conclusion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Scheme Eligibility Assistant</dc:title>
  <dc:subject>PptxGenJS Presentation</dc:subject>
  <dc:creator>PptxGenJS</dc:creator>
  <cp:lastModifiedBy>Nalin Ahuja</cp:lastModifiedBy>
  <cp:revision>4</cp:revision>
  <dcterms:created xsi:type="dcterms:W3CDTF">2026-10-21T10:15:14Z</dcterms:created>
  <dcterms:modified xsi:type="dcterms:W3CDTF">2026-10-22T14:42:38Z</dcterms:modified>
</cp:coreProperties>
</file>